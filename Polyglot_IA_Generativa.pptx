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66"/>
    <a:srgbClr val="F7632F"/>
    <a:srgbClr val="06A24D"/>
    <a:srgbClr val="F8B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9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0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hyperlink" Target="https://polyglot-vy9kzmcgznfufgdjkdtwxy.streamlit.app/" TargetMode="Externa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ndo">
            <a:extLst>
              <a:ext uri="{FF2B5EF4-FFF2-40B4-BE49-F238E27FC236}">
                <a16:creationId xmlns:a16="http://schemas.microsoft.com/office/drawing/2014/main" id="{B69CF2AB-4714-B82D-53D4-3C6B05BC788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7418" y="1778008"/>
            <a:ext cx="6869188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37474F"/>
                </a:solidFill>
              </a:defRPr>
            </a:pPr>
            <a:r>
              <a:rPr lang="es-EC" sz="4800" dirty="0" err="1">
                <a:solidFill>
                  <a:srgbClr val="339966"/>
                </a:solidFill>
              </a:rPr>
              <a:t>Polyglot</a:t>
            </a:r>
            <a:r>
              <a:rPr lang="es-EC" sz="4800" dirty="0">
                <a:solidFill>
                  <a:srgbClr val="339966"/>
                </a:solidFill>
              </a:rPr>
              <a:t>:</a:t>
            </a:r>
            <a:r>
              <a:rPr lang="es-EC" sz="4800" dirty="0"/>
              <a:t> Conquistando el </a:t>
            </a:r>
          </a:p>
          <a:p>
            <a:pPr algn="ctr">
              <a:defRPr sz="5200" b="1">
                <a:solidFill>
                  <a:srgbClr val="37474F"/>
                </a:solidFill>
              </a:defRPr>
            </a:pPr>
            <a:r>
              <a:rPr lang="es-EC" sz="4800" dirty="0">
                <a:solidFill>
                  <a:srgbClr val="F7632F"/>
                </a:solidFill>
              </a:rPr>
              <a:t>Mercado Global</a:t>
            </a:r>
            <a:r>
              <a:rPr lang="es-EC" sz="4800" dirty="0"/>
              <a:t> con IA</a:t>
            </a:r>
            <a:endParaRPr sz="4800" dirty="0"/>
          </a:p>
        </p:txBody>
      </p:sp>
      <p:sp>
        <p:nvSpPr>
          <p:cNvPr id="9" name="TextBox 8"/>
          <p:cNvSpPr txBox="1"/>
          <p:nvPr/>
        </p:nvSpPr>
        <p:spPr>
          <a:xfrm>
            <a:off x="1492474" y="5105402"/>
            <a:ext cx="615905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07D8B"/>
                </a:solidFill>
              </a:defRPr>
            </a:pPr>
            <a:r>
              <a:rPr lang="es-MX" sz="1600" dirty="0">
                <a:solidFill>
                  <a:srgbClr val="607D8B"/>
                </a:solidFill>
              </a:rPr>
              <a:t>Desarrolladores: </a:t>
            </a:r>
            <a:r>
              <a:rPr lang="es-MX" dirty="0"/>
              <a:t>Mauro Patiño </a:t>
            </a:r>
            <a:r>
              <a:rPr lang="es-MX" sz="1600" dirty="0">
                <a:solidFill>
                  <a:srgbClr val="607D8B"/>
                </a:solidFill>
              </a:rPr>
              <a:t>- Luis Valencia</a:t>
            </a:r>
          </a:p>
          <a:p>
            <a:pPr algn="ctr">
              <a:defRPr sz="1600">
                <a:solidFill>
                  <a:srgbClr val="607D8B"/>
                </a:solidFill>
              </a:defRPr>
            </a:pPr>
            <a:endParaRPr lang="es-EC" dirty="0"/>
          </a:p>
          <a:p>
            <a:pPr algn="ctr">
              <a:defRPr sz="1600">
                <a:solidFill>
                  <a:srgbClr val="607D8B"/>
                </a:solidFill>
              </a:defRPr>
            </a:pPr>
            <a:r>
              <a:rPr lang="es-EC" b="1" dirty="0"/>
              <a:t>Diplomado Python Full </a:t>
            </a:r>
            <a:r>
              <a:rPr lang="es-EC" b="1" dirty="0" err="1"/>
              <a:t>Stack</a:t>
            </a:r>
            <a:r>
              <a:rPr lang="es-EC" b="1" dirty="0"/>
              <a:t> | </a:t>
            </a:r>
            <a:r>
              <a:rPr sz="1600" b="1" dirty="0">
                <a:solidFill>
                  <a:srgbClr val="F7632F"/>
                </a:solidFill>
              </a:rPr>
              <a:t>Universidad </a:t>
            </a:r>
            <a:r>
              <a:rPr sz="1600" b="1" dirty="0" err="1">
                <a:solidFill>
                  <a:srgbClr val="F7632F"/>
                </a:solidFill>
              </a:rPr>
              <a:t>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sz="1600" b="1" dirty="0">
              <a:solidFill>
                <a:srgbClr val="7030A0"/>
              </a:solidFill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6FB6EB79-A19F-E4FE-6F39-82C5A9309137}"/>
              </a:ext>
            </a:extLst>
          </p:cNvPr>
          <p:cNvSpPr txBox="1"/>
          <p:nvPr/>
        </p:nvSpPr>
        <p:spPr>
          <a:xfrm>
            <a:off x="1067695" y="3785011"/>
            <a:ext cx="70086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07D8B"/>
                </a:solidFill>
              </a:defRPr>
            </a:pPr>
            <a:r>
              <a:rPr lang="es-EC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ExtraBold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Solución inteligente para eliminar barreras idiomáticas</a:t>
            </a:r>
            <a:endParaRPr sz="2400" dirty="0">
              <a:solidFill>
                <a:schemeClr val="tx1">
                  <a:lumMod val="65000"/>
                  <a:lumOff val="35000"/>
                </a:schemeClr>
              </a:solidFill>
              <a:latin typeface="Aptos ExtraBold" panose="020F050202020403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" name="AutoShape 12" descr="Globo azul.ai - Free Vector Download | VectorPortal">
            <a:extLst>
              <a:ext uri="{FF2B5EF4-FFF2-40B4-BE49-F238E27FC236}">
                <a16:creationId xmlns:a16="http://schemas.microsoft.com/office/drawing/2014/main" id="{3F872393-BA5F-EA54-9719-3D64F6DE8E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BAE9478-397F-91B6-C575-5F625FB2CF0E}"/>
              </a:ext>
            </a:extLst>
          </p:cNvPr>
          <p:cNvSpPr txBox="1"/>
          <p:nvPr/>
        </p:nvSpPr>
        <p:spPr>
          <a:xfrm>
            <a:off x="3711291" y="211664"/>
            <a:ext cx="64058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0000" dirty="0"/>
              <a:t>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37474F"/>
                </a:solidFill>
              </a:defRPr>
            </a:pPr>
            <a:r>
              <a:t>📦 El Desafío de la Expansión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2A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6576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endParaRPr lang="es-EC" dirty="0"/>
          </a:p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endParaRPr lang="es-EC" dirty="0"/>
          </a:p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rPr dirty="0"/>
              <a:t>⏳ </a:t>
            </a:r>
            <a:r>
              <a:rPr dirty="0" err="1"/>
              <a:t>Lentitud</a:t>
            </a:r>
            <a:r>
              <a:rPr dirty="0"/>
              <a:t> </a:t>
            </a:r>
            <a:r>
              <a:rPr dirty="0" err="1"/>
              <a:t>Crítica</a:t>
            </a:r>
            <a:endParaRPr dirty="0"/>
          </a:p>
          <a:p>
            <a:pPr>
              <a:defRPr sz="1600">
                <a:solidFill>
                  <a:srgbClr val="607D8B"/>
                </a:solidFill>
              </a:defRPr>
            </a:pPr>
            <a:r>
              <a:rPr dirty="0"/>
              <a:t>Semanas de </a:t>
            </a:r>
            <a:r>
              <a:rPr dirty="0" err="1"/>
              <a:t>trabajo</a:t>
            </a:r>
            <a:r>
              <a:rPr dirty="0"/>
              <a:t> manual para </a:t>
            </a:r>
            <a:r>
              <a:rPr dirty="0" err="1"/>
              <a:t>adaptar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campaña</a:t>
            </a:r>
            <a:r>
              <a:rPr dirty="0"/>
              <a:t> </a:t>
            </a:r>
            <a:r>
              <a:rPr dirty="0" err="1"/>
              <a:t>publicitaria</a:t>
            </a:r>
            <a:r>
              <a:rPr dirty="0"/>
              <a:t> a mercados </a:t>
            </a:r>
            <a:r>
              <a:rPr dirty="0" err="1"/>
              <a:t>internacionales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Japón</a:t>
            </a:r>
            <a:r>
              <a:rPr dirty="0"/>
              <a:t> o </a:t>
            </a:r>
            <a:r>
              <a:rPr dirty="0" err="1"/>
              <a:t>Brasil</a:t>
            </a:r>
            <a:r>
              <a:rPr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645920"/>
            <a:ext cx="36576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endParaRPr lang="es-EC" dirty="0"/>
          </a:p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endParaRPr lang="es-EC" dirty="0"/>
          </a:p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rPr dirty="0"/>
              <a:t>⚠️ Riesgo de Marca</a:t>
            </a:r>
          </a:p>
          <a:p>
            <a:pPr>
              <a:defRPr sz="1600">
                <a:solidFill>
                  <a:srgbClr val="607D8B"/>
                </a:solidFill>
              </a:defRPr>
            </a:pPr>
            <a:r>
              <a:rPr dirty="0"/>
              <a:t>Las </a:t>
            </a:r>
            <a:r>
              <a:rPr dirty="0" err="1"/>
              <a:t>traducciones</a:t>
            </a:r>
            <a:r>
              <a:rPr dirty="0"/>
              <a:t> </a:t>
            </a:r>
            <a:r>
              <a:rPr dirty="0" err="1"/>
              <a:t>literales</a:t>
            </a:r>
            <a:r>
              <a:rPr dirty="0"/>
              <a:t> </a:t>
            </a:r>
            <a:r>
              <a:rPr dirty="0" err="1"/>
              <a:t>ignoran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matiz</a:t>
            </a:r>
            <a:r>
              <a:rPr dirty="0"/>
              <a:t> cultural, </a:t>
            </a:r>
            <a:r>
              <a:rPr dirty="0" err="1"/>
              <a:t>generando</a:t>
            </a:r>
            <a:r>
              <a:rPr dirty="0"/>
              <a:t> </a:t>
            </a:r>
            <a:r>
              <a:rPr dirty="0" err="1"/>
              <a:t>desconexión</a:t>
            </a:r>
            <a:r>
              <a:rPr dirty="0"/>
              <a:t> y </a:t>
            </a:r>
            <a:r>
              <a:rPr dirty="0" err="1"/>
              <a:t>falta</a:t>
            </a:r>
            <a:r>
              <a:rPr dirty="0"/>
              <a:t> de confianza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consumidor</a:t>
            </a:r>
            <a:r>
              <a:rPr dirty="0"/>
              <a:t> local.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59E51628-DD16-8642-D878-49594BBF92BD}"/>
              </a:ext>
            </a:extLst>
          </p:cNvPr>
          <p:cNvSpPr txBox="1"/>
          <p:nvPr/>
        </p:nvSpPr>
        <p:spPr>
          <a:xfrm>
            <a:off x="5592880" y="6350000"/>
            <a:ext cx="35123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8B66"/>
                </a:solidFill>
              </a:defRPr>
            </a:pPr>
            <a:r>
              <a:rPr lang="es-EC" sz="1600" b="1" dirty="0">
                <a:solidFill>
                  <a:srgbClr val="F7632F"/>
                </a:solidFill>
              </a:rPr>
              <a:t>Universidad 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37474F"/>
                </a:solidFill>
              </a:defRPr>
            </a:pPr>
            <a:r>
              <a:t>🎯 La Brecha: Palabras vs. Cultura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2A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rPr dirty="0"/>
              <a:t>❌ </a:t>
            </a:r>
            <a:r>
              <a:rPr dirty="0" err="1"/>
              <a:t>Traducción</a:t>
            </a:r>
            <a:endParaRPr dirty="0"/>
          </a:p>
          <a:p>
            <a:pPr algn="ctr">
              <a:defRPr sz="1600">
                <a:solidFill>
                  <a:srgbClr val="607D8B"/>
                </a:solidFill>
              </a:defRPr>
            </a:pPr>
            <a:r>
              <a:rPr dirty="0" err="1"/>
              <a:t>Entiende</a:t>
            </a:r>
            <a:r>
              <a:rPr dirty="0"/>
              <a:t> las palabras,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ignora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emocional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7680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rPr dirty="0"/>
              <a:t>Alemania</a:t>
            </a:r>
          </a:p>
          <a:p>
            <a:pPr algn="ctr">
              <a:defRPr sz="1600">
                <a:solidFill>
                  <a:srgbClr val="607D8B"/>
                </a:solidFill>
              </a:defRPr>
            </a:pPr>
            <a:r>
              <a:rPr dirty="0" err="1"/>
              <a:t>Enfoque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, </a:t>
            </a:r>
            <a:r>
              <a:rPr dirty="0" err="1"/>
              <a:t>formalidad</a:t>
            </a:r>
            <a:r>
              <a:rPr dirty="0"/>
              <a:t> extrema y </a:t>
            </a:r>
            <a:r>
              <a:rPr dirty="0" err="1"/>
              <a:t>comunicación</a:t>
            </a:r>
            <a:r>
              <a:rPr dirty="0"/>
              <a:t> </a:t>
            </a:r>
            <a:r>
              <a:rPr dirty="0" err="1"/>
              <a:t>directa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rPr dirty="0" err="1"/>
              <a:t>Brasil</a:t>
            </a:r>
            <a:endParaRPr dirty="0"/>
          </a:p>
          <a:p>
            <a:pPr algn="ctr">
              <a:defRPr sz="1600">
                <a:solidFill>
                  <a:srgbClr val="607D8B"/>
                </a:solidFill>
              </a:defRPr>
            </a:pPr>
            <a:r>
              <a:rPr dirty="0"/>
              <a:t>Energía </a:t>
            </a:r>
            <a:r>
              <a:rPr dirty="0" err="1"/>
              <a:t>vibrante</a:t>
            </a:r>
            <a:r>
              <a:rPr dirty="0"/>
              <a:t>, </a:t>
            </a:r>
            <a:r>
              <a:rPr dirty="0" err="1"/>
              <a:t>cercanía</a:t>
            </a:r>
            <a:r>
              <a:rPr dirty="0"/>
              <a:t> personal y </a:t>
            </a:r>
            <a:r>
              <a:rPr dirty="0" err="1"/>
              <a:t>tono</a:t>
            </a:r>
            <a:r>
              <a:rPr dirty="0"/>
              <a:t> </a:t>
            </a:r>
            <a:r>
              <a:rPr dirty="0" err="1"/>
              <a:t>emocional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731520" y="5610014"/>
            <a:ext cx="7680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rPr dirty="0"/>
              <a:t>✅ Polyglot</a:t>
            </a:r>
          </a:p>
          <a:p>
            <a:pPr algn="ctr">
              <a:defRPr sz="1600">
                <a:solidFill>
                  <a:srgbClr val="607D8B"/>
                </a:solidFill>
              </a:defRPr>
            </a:pPr>
            <a:r>
              <a:rPr dirty="0" err="1"/>
              <a:t>Localización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captura</a:t>
            </a:r>
            <a:r>
              <a:rPr dirty="0"/>
              <a:t> la </a:t>
            </a:r>
            <a:r>
              <a:rPr dirty="0" err="1"/>
              <a:t>esencia</a:t>
            </a:r>
            <a:r>
              <a:rPr dirty="0"/>
              <a:t> cultural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AF9F4B6-0F20-F0F8-AF94-DCCC788A188B}"/>
              </a:ext>
            </a:extLst>
          </p:cNvPr>
          <p:cNvSpPr/>
          <p:nvPr/>
        </p:nvSpPr>
        <p:spPr>
          <a:xfrm>
            <a:off x="734904" y="4617724"/>
            <a:ext cx="7680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8B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rPr lang="es-EC" dirty="0"/>
              <a:t>Japón</a:t>
            </a:r>
            <a:endParaRPr dirty="0"/>
          </a:p>
          <a:p>
            <a:pPr algn="ctr">
              <a:defRPr sz="1600">
                <a:solidFill>
                  <a:srgbClr val="607D8B"/>
                </a:solidFill>
              </a:defRPr>
            </a:pPr>
            <a:r>
              <a:rPr lang="es-MX" sz="1600" dirty="0"/>
              <a:t>Jerarquía, respeto, honoríficos y comunicación indirecta</a:t>
            </a:r>
            <a:endParaRPr dirty="0"/>
          </a:p>
        </p:txBody>
      </p:sp>
      <p:pic>
        <p:nvPicPr>
          <p:cNvPr id="3082" name="Picture 10" descr="Vectores de Bandera alemania circulo png - Descarga vectores gratis de gran  calidad de Freepik | Freepik">
            <a:extLst>
              <a:ext uri="{FF2B5EF4-FFF2-40B4-BE49-F238E27FC236}">
                <a16:creationId xmlns:a16="http://schemas.microsoft.com/office/drawing/2014/main" id="{CFB2D2F8-0D86-4592-CC9A-3444A5826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42" y="2737084"/>
            <a:ext cx="542926" cy="5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Imágenes de Bandera brasil circulo - Descarga gratuita en Freepik">
            <a:extLst>
              <a:ext uri="{FF2B5EF4-FFF2-40B4-BE49-F238E27FC236}">
                <a16:creationId xmlns:a16="http://schemas.microsoft.com/office/drawing/2014/main" id="{8EE1A318-132A-F574-8D27-11DBCFF50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37" y="3586922"/>
            <a:ext cx="749856" cy="74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منتديات كووورة">
            <a:extLst>
              <a:ext uri="{FF2B5EF4-FFF2-40B4-BE49-F238E27FC236}">
                <a16:creationId xmlns:a16="http://schemas.microsoft.com/office/drawing/2014/main" id="{8D3250F2-A3A6-E9B2-F3D8-AEF2EED19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10" y="4741333"/>
            <a:ext cx="578132" cy="5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08244231-C102-FA07-ADAE-CCBA30CCE805}"/>
              </a:ext>
            </a:extLst>
          </p:cNvPr>
          <p:cNvSpPr txBox="1"/>
          <p:nvPr/>
        </p:nvSpPr>
        <p:spPr>
          <a:xfrm>
            <a:off x="5626748" y="6510871"/>
            <a:ext cx="35123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8B66"/>
                </a:solidFill>
              </a:defRPr>
            </a:pPr>
            <a:r>
              <a:rPr lang="es-EC" sz="1600" b="1" dirty="0">
                <a:solidFill>
                  <a:srgbClr val="F7632F"/>
                </a:solidFill>
              </a:rPr>
              <a:t>Universidad 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37474F"/>
                </a:solidFill>
              </a:defRPr>
            </a:pPr>
            <a:r>
              <a:t>🚀 Vende al Mundo con Un Clic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2A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88731" y="2179322"/>
            <a:ext cx="5610013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rPr dirty="0"/>
              <a:t>✨ </a:t>
            </a:r>
            <a:r>
              <a:rPr dirty="0" err="1"/>
              <a:t>Streamlit</a:t>
            </a:r>
            <a:r>
              <a:rPr dirty="0"/>
              <a:t> Dashboard</a:t>
            </a:r>
          </a:p>
          <a:p>
            <a:pPr>
              <a:defRPr sz="1600">
                <a:solidFill>
                  <a:srgbClr val="607D8B"/>
                </a:solidFill>
              </a:defRPr>
            </a:pPr>
            <a:r>
              <a:rPr dirty="0" err="1"/>
              <a:t>Interfaz</a:t>
            </a:r>
            <a:r>
              <a:rPr dirty="0"/>
              <a:t> </a:t>
            </a:r>
            <a:r>
              <a:rPr dirty="0" err="1"/>
              <a:t>Optimizada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:</a:t>
            </a:r>
            <a:br>
              <a:rPr dirty="0"/>
            </a:br>
            <a:r>
              <a:rPr dirty="0"/>
              <a:t>• Entrada de </a:t>
            </a:r>
            <a:r>
              <a:rPr dirty="0" err="1"/>
              <a:t>producto</a:t>
            </a:r>
            <a:r>
              <a:rPr dirty="0"/>
              <a:t> </a:t>
            </a:r>
            <a:r>
              <a:rPr dirty="0" err="1"/>
              <a:t>simplificada</a:t>
            </a:r>
            <a:br>
              <a:rPr dirty="0"/>
            </a:br>
            <a:r>
              <a:rPr dirty="0"/>
              <a:t>• </a:t>
            </a:r>
            <a:r>
              <a:rPr dirty="0" err="1"/>
              <a:t>Selectores</a:t>
            </a:r>
            <a:r>
              <a:rPr dirty="0"/>
              <a:t> de mercado </a:t>
            </a:r>
            <a:r>
              <a:rPr dirty="0" err="1"/>
              <a:t>contextuales</a:t>
            </a:r>
            <a:br>
              <a:rPr dirty="0"/>
            </a:br>
            <a:r>
              <a:rPr dirty="0"/>
              <a:t>• </a:t>
            </a:r>
            <a:r>
              <a:rPr dirty="0" err="1"/>
              <a:t>Comparativa</a:t>
            </a:r>
            <a:r>
              <a:rPr dirty="0"/>
              <a:t> de </a:t>
            </a:r>
            <a:r>
              <a:rPr dirty="0" err="1"/>
              <a:t>motores</a:t>
            </a:r>
            <a:r>
              <a:rPr dirty="0"/>
              <a:t> de IA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real</a:t>
            </a:r>
          </a:p>
        </p:txBody>
      </p:sp>
      <p:pic>
        <p:nvPicPr>
          <p:cNvPr id="5128" name="Picture 8" descr="Dashboard Generic color fill icon | Freepik">
            <a:extLst>
              <a:ext uri="{FF2B5EF4-FFF2-40B4-BE49-F238E27FC236}">
                <a16:creationId xmlns:a16="http://schemas.microsoft.com/office/drawing/2014/main" id="{F7CAA0FE-8A8C-FEE6-62C4-2908492DD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32" y="2082802"/>
            <a:ext cx="2226735" cy="2226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11CF9DCC-4E8D-2724-1BEF-E4EAE0B80B62}"/>
              </a:ext>
            </a:extLst>
          </p:cNvPr>
          <p:cNvSpPr txBox="1"/>
          <p:nvPr/>
        </p:nvSpPr>
        <p:spPr>
          <a:xfrm>
            <a:off x="5592880" y="6350000"/>
            <a:ext cx="35123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8B66"/>
                </a:solidFill>
              </a:defRPr>
            </a:pPr>
            <a:r>
              <a:rPr lang="es-EC" sz="1600" b="1" dirty="0">
                <a:solidFill>
                  <a:srgbClr val="F7632F"/>
                </a:solidFill>
              </a:rPr>
              <a:t>Universidad 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37474F"/>
                </a:solidFill>
              </a:defRPr>
            </a:pPr>
            <a:r>
              <a:rPr dirty="0"/>
              <a:t>⚙️ Backend </a:t>
            </a:r>
            <a:r>
              <a:rPr dirty="0" err="1"/>
              <a:t>en</a:t>
            </a:r>
            <a:r>
              <a:rPr dirty="0"/>
              <a:t>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2A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46320" y="1273726"/>
            <a:ext cx="3657600" cy="229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endParaRPr lang="es-EC" dirty="0"/>
          </a:p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rPr dirty="0"/>
              <a:t>🔗 </a:t>
            </a:r>
            <a:r>
              <a:rPr dirty="0" err="1"/>
              <a:t>Orquestación</a:t>
            </a:r>
            <a:endParaRPr dirty="0"/>
          </a:p>
          <a:p>
            <a:pPr>
              <a:defRPr sz="1600">
                <a:solidFill>
                  <a:srgbClr val="607D8B"/>
                </a:solidFill>
              </a:defRPr>
            </a:pP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paralelas</a:t>
            </a:r>
            <a:r>
              <a:rPr dirty="0"/>
              <a:t> </a:t>
            </a:r>
            <a:r>
              <a:rPr dirty="0" err="1"/>
              <a:t>asíncronas</a:t>
            </a:r>
            <a:r>
              <a:rPr dirty="0"/>
              <a:t> a </a:t>
            </a:r>
            <a:r>
              <a:rPr dirty="0" err="1"/>
              <a:t>múltiples</a:t>
            </a:r>
            <a:r>
              <a:rPr dirty="0"/>
              <a:t> APIs para </a:t>
            </a:r>
            <a:r>
              <a:rPr dirty="0" err="1"/>
              <a:t>reducir</a:t>
            </a:r>
            <a:r>
              <a:rPr dirty="0"/>
              <a:t> la </a:t>
            </a:r>
            <a:r>
              <a:rPr dirty="0" err="1"/>
              <a:t>latencia</a:t>
            </a:r>
            <a:r>
              <a:rPr dirty="0"/>
              <a:t> de </a:t>
            </a:r>
            <a:r>
              <a:rPr dirty="0" err="1"/>
              <a:t>respuesta</a:t>
            </a:r>
            <a:r>
              <a:rPr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813393"/>
            <a:ext cx="3657600" cy="229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endParaRPr lang="es-EC" dirty="0"/>
          </a:p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rPr dirty="0"/>
              <a:t>🛡️ </a:t>
            </a:r>
            <a:r>
              <a:rPr dirty="0" err="1"/>
              <a:t>Seguridad</a:t>
            </a:r>
            <a:r>
              <a:rPr dirty="0"/>
              <a:t> JSON</a:t>
            </a:r>
          </a:p>
          <a:p>
            <a:pPr>
              <a:defRPr sz="1600">
                <a:solidFill>
                  <a:srgbClr val="607D8B"/>
                </a:solidFill>
              </a:defRPr>
            </a:pPr>
            <a:r>
              <a:rPr dirty="0" err="1"/>
              <a:t>Validación</a:t>
            </a:r>
            <a:r>
              <a:rPr dirty="0"/>
              <a:t> de </a:t>
            </a:r>
            <a:r>
              <a:rPr dirty="0" err="1"/>
              <a:t>esquemas</a:t>
            </a:r>
            <a:r>
              <a:rPr dirty="0"/>
              <a:t> JSON para </a:t>
            </a:r>
            <a:r>
              <a:rPr dirty="0" err="1"/>
              <a:t>garantizar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estructurados</a:t>
            </a:r>
            <a:r>
              <a:rPr dirty="0"/>
              <a:t> a la UI.</a:t>
            </a:r>
          </a:p>
        </p:txBody>
      </p:sp>
      <p:pic>
        <p:nvPicPr>
          <p:cNvPr id="1028" name="Picture 4" descr="Backend - Iconos gratis de computadora">
            <a:extLst>
              <a:ext uri="{FF2B5EF4-FFF2-40B4-BE49-F238E27FC236}">
                <a16:creationId xmlns:a16="http://schemas.microsoft.com/office/drawing/2014/main" id="{1C2C3495-263E-801D-E7A0-77E5B7DE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062" y="3970538"/>
            <a:ext cx="1930732" cy="1930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ython logo - Icono gratis PNG, SVG">
            <a:extLst>
              <a:ext uri="{FF2B5EF4-FFF2-40B4-BE49-F238E27FC236}">
                <a16:creationId xmlns:a16="http://schemas.microsoft.com/office/drawing/2014/main" id="{B44B87F8-7BD4-B636-F4FE-E207693FA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857" y="1617133"/>
            <a:ext cx="1526878" cy="162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9DCB0C8F-9A84-2FD7-4FAA-F46AC7C0F2A9}"/>
              </a:ext>
            </a:extLst>
          </p:cNvPr>
          <p:cNvSpPr txBox="1"/>
          <p:nvPr/>
        </p:nvSpPr>
        <p:spPr>
          <a:xfrm>
            <a:off x="5592880" y="6350000"/>
            <a:ext cx="35123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8B66"/>
                </a:solidFill>
              </a:defRPr>
            </a:pPr>
            <a:r>
              <a:rPr lang="es-EC" sz="1600" b="1" dirty="0">
                <a:solidFill>
                  <a:srgbClr val="F7632F"/>
                </a:solidFill>
              </a:rPr>
              <a:t>Universidad 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37474F"/>
                </a:solidFill>
              </a:defRPr>
            </a:pPr>
            <a:r>
              <a:t>🧠 Ingeniería de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2A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0" y="2001521"/>
            <a:ext cx="56692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rPr dirty="0"/>
              <a:t>🎯 System Prompts </a:t>
            </a:r>
            <a:r>
              <a:rPr dirty="0" err="1"/>
              <a:t>Dinámicos</a:t>
            </a:r>
            <a:endParaRPr dirty="0"/>
          </a:p>
          <a:p>
            <a:pPr>
              <a:defRPr sz="1600">
                <a:solidFill>
                  <a:srgbClr val="607D8B"/>
                </a:solidFill>
              </a:defRPr>
            </a:pPr>
            <a:r>
              <a:rPr dirty="0" err="1"/>
              <a:t>Precisión</a:t>
            </a:r>
            <a:r>
              <a:rPr dirty="0"/>
              <a:t> Cultural </a:t>
            </a:r>
            <a:r>
              <a:rPr dirty="0" err="1"/>
              <a:t>mediante</a:t>
            </a:r>
            <a:r>
              <a:rPr dirty="0"/>
              <a:t> System Prompts </a:t>
            </a:r>
            <a:r>
              <a:rPr dirty="0" err="1"/>
              <a:t>Adaptativos</a:t>
            </a:r>
            <a:r>
              <a:rPr dirty="0"/>
              <a:t>: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Diferenciación</a:t>
            </a:r>
            <a:r>
              <a:rPr dirty="0"/>
              <a:t> de tonos (formal/</a:t>
            </a:r>
            <a:r>
              <a:rPr dirty="0" err="1"/>
              <a:t>vibrante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Restricción</a:t>
            </a:r>
            <a:r>
              <a:rPr dirty="0"/>
              <a:t> de </a:t>
            </a:r>
            <a:r>
              <a:rPr dirty="0" err="1"/>
              <a:t>caracteres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plataforma</a:t>
            </a:r>
            <a:br>
              <a:rPr dirty="0"/>
            </a:br>
            <a:r>
              <a:rPr dirty="0"/>
              <a:t>• Uso de </a:t>
            </a:r>
            <a:r>
              <a:rPr dirty="0" err="1"/>
              <a:t>honoríficos</a:t>
            </a:r>
            <a:r>
              <a:rPr dirty="0"/>
              <a:t> y </a:t>
            </a:r>
            <a:r>
              <a:rPr dirty="0" err="1"/>
              <a:t>normas</a:t>
            </a:r>
            <a:r>
              <a:rPr dirty="0"/>
              <a:t> </a:t>
            </a:r>
            <a:r>
              <a:rPr dirty="0" err="1"/>
              <a:t>culturales</a:t>
            </a:r>
            <a:r>
              <a:rPr dirty="0"/>
              <a:t> locales</a:t>
            </a:r>
          </a:p>
        </p:txBody>
      </p:sp>
      <p:pic>
        <p:nvPicPr>
          <p:cNvPr id="6158" name="Picture 14" descr="Imágenes de Red distribución - Descarga gratuita en Freepik">
            <a:extLst>
              <a:ext uri="{FF2B5EF4-FFF2-40B4-BE49-F238E27FC236}">
                <a16:creationId xmlns:a16="http://schemas.microsoft.com/office/drawing/2014/main" id="{3EE5A743-592E-7FB1-4E7E-D7304EB26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33" y="2001521"/>
            <a:ext cx="2299547" cy="229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51773F-52DF-7016-2210-277F5E46F98F}"/>
              </a:ext>
            </a:extLst>
          </p:cNvPr>
          <p:cNvSpPr txBox="1"/>
          <p:nvPr/>
        </p:nvSpPr>
        <p:spPr>
          <a:xfrm>
            <a:off x="5592880" y="6350000"/>
            <a:ext cx="35123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8B66"/>
                </a:solidFill>
              </a:defRPr>
            </a:pPr>
            <a:r>
              <a:rPr lang="es-EC" sz="1600" b="1" dirty="0">
                <a:solidFill>
                  <a:srgbClr val="F7632F"/>
                </a:solidFill>
              </a:rPr>
              <a:t>Universidad 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37474F"/>
                </a:solidFill>
              </a:defRPr>
            </a:pPr>
            <a:r>
              <a:t>💰 ROI: Impacto en Eficiencia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2A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6858000" cy="548640"/>
          </a:xfrm>
          <a:prstGeom prst="rect">
            <a:avLst/>
          </a:prstGeom>
          <a:solidFill>
            <a:srgbClr val="EF9A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s-EC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</a:t>
            </a:r>
            <a:r>
              <a:rPr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Proceso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Manual: 15 DÍAS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457200" cy="548640"/>
          </a:xfrm>
          <a:prstGeom prst="rect">
            <a:avLst/>
          </a:prstGeom>
          <a:solidFill>
            <a:srgbClr val="2A8B66"/>
          </a:solidFill>
          <a:ln w="1905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61946" y="4114800"/>
            <a:ext cx="7420108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A8B66"/>
                </a:solidFill>
              </a:defRPr>
            </a:pPr>
            <a:r>
              <a:rPr dirty="0"/>
              <a:t> </a:t>
            </a:r>
            <a:r>
              <a:rPr lang="es-EC" dirty="0"/>
              <a:t> </a:t>
            </a:r>
            <a:r>
              <a:rPr dirty="0"/>
              <a:t>Ahorro del 99.8% </a:t>
            </a:r>
            <a:r>
              <a:rPr dirty="0" err="1"/>
              <a:t>en</a:t>
            </a:r>
            <a:r>
              <a:rPr dirty="0"/>
              <a:t> Tiempo </a:t>
            </a:r>
            <a:r>
              <a:rPr dirty="0" err="1"/>
              <a:t>Operativo</a:t>
            </a:r>
            <a:endParaRPr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B776FBC-966F-0022-D15B-4CE08FFB86EB}"/>
              </a:ext>
            </a:extLst>
          </p:cNvPr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6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s-EC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Polyglot</a:t>
            </a:r>
            <a:r>
              <a:rPr lang="es-EC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AI: 5 SEG</a:t>
            </a:r>
          </a:p>
        </p:txBody>
      </p:sp>
      <p:pic>
        <p:nvPicPr>
          <p:cNvPr id="10" name="Picture 6" descr="Ahorro - Iconos gratis de negocios y finanzas">
            <a:extLst>
              <a:ext uri="{FF2B5EF4-FFF2-40B4-BE49-F238E27FC236}">
                <a16:creationId xmlns:a16="http://schemas.microsoft.com/office/drawing/2014/main" id="{B8B91E30-EB97-9D70-9E09-A0518C035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023360"/>
            <a:ext cx="655320" cy="6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EE7066E-41CD-4584-779F-02D1BD99DEA5}"/>
              </a:ext>
            </a:extLst>
          </p:cNvPr>
          <p:cNvSpPr txBox="1"/>
          <p:nvPr/>
        </p:nvSpPr>
        <p:spPr>
          <a:xfrm>
            <a:off x="5592880" y="6350000"/>
            <a:ext cx="35123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8B66"/>
                </a:solidFill>
              </a:defRPr>
            </a:pPr>
            <a:r>
              <a:rPr lang="es-EC" sz="1600" b="1" dirty="0">
                <a:solidFill>
                  <a:srgbClr val="F7632F"/>
                </a:solidFill>
              </a:rPr>
              <a:t>Universidad 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37474F"/>
                </a:solidFill>
              </a:defRPr>
            </a:pPr>
            <a:r>
              <a:rPr dirty="0"/>
              <a:t>⚖️ </a:t>
            </a:r>
            <a:r>
              <a:rPr dirty="0" err="1"/>
              <a:t>Comparativa</a:t>
            </a:r>
            <a:r>
              <a:rPr dirty="0"/>
              <a:t> de Motores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2A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003555"/>
              </p:ext>
            </p:extLst>
          </p:nvPr>
        </p:nvGraphicFramePr>
        <p:xfrm>
          <a:off x="731520" y="1963935"/>
          <a:ext cx="7680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2A8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lang="es-EC" dirty="0"/>
                        <a:t>Gemini</a:t>
                      </a:r>
                      <a:endParaRPr dirty="0"/>
                    </a:p>
                  </a:txBody>
                  <a:tcPr>
                    <a:solidFill>
                      <a:srgbClr val="64B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Mistral</a:t>
                      </a:r>
                    </a:p>
                  </a:txBody>
                  <a:tcPr>
                    <a:solidFill>
                      <a:srgbClr val="FFA7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DeepSeek</a:t>
                      </a:r>
                    </a:p>
                  </a:txBody>
                  <a:tcPr>
                    <a:solidFill>
                      <a:srgbClr val="4FC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7474F"/>
                          </a:solidFill>
                        </a:defRPr>
                      </a:pPr>
                      <a:r>
                        <a:t>Localización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74F"/>
                          </a:solidFill>
                        </a:defRPr>
                      </a:pPr>
                      <a:r>
                        <a:t>Excelente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74F"/>
                          </a:solidFill>
                        </a:defRPr>
                      </a:pPr>
                      <a:r>
                        <a:t>Buena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74F"/>
                          </a:solidFill>
                        </a:defRPr>
                      </a:pPr>
                      <a:r>
                        <a:t>Excelente</a:t>
                      </a:r>
                    </a:p>
                  </a:txBody>
                  <a:tcPr>
                    <a:solidFill>
                      <a:srgbClr val="B3E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7474F"/>
                          </a:solidFill>
                        </a:defRPr>
                      </a:pPr>
                      <a:r>
                        <a:t>Latencia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74F"/>
                          </a:solidFill>
                        </a:defRPr>
                      </a:pPr>
                      <a:r>
                        <a:t>Excelente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74F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74F"/>
                          </a:solidFill>
                        </a:defRPr>
                      </a:pPr>
                      <a:r>
                        <a:t>Excelente</a:t>
                      </a:r>
                    </a:p>
                  </a:txBody>
                  <a:tcPr>
                    <a:solidFill>
                      <a:srgbClr val="B3E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7474F"/>
                          </a:solidFill>
                        </a:defRPr>
                      </a:pPr>
                      <a:r>
                        <a:rPr dirty="0"/>
                        <a:t>Costo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74F"/>
                          </a:solidFill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74F"/>
                          </a:solidFill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74F"/>
                          </a:solidFill>
                        </a:defRPr>
                      </a:pPr>
                      <a:r>
                        <a:rPr dirty="0"/>
                        <a:t>Bajo</a:t>
                      </a:r>
                    </a:p>
                  </a:txBody>
                  <a:tcPr>
                    <a:solidFill>
                      <a:srgbClr val="B3E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7306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607D8B"/>
                </a:solidFill>
              </a:defRPr>
            </a:pPr>
            <a:r>
              <a:rPr dirty="0"/>
              <a:t>Polyglot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para </a:t>
            </a:r>
            <a:r>
              <a:rPr dirty="0" err="1"/>
              <a:t>elegir</a:t>
            </a:r>
            <a:r>
              <a:rPr dirty="0"/>
              <a:t> la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opción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la </a:t>
            </a:r>
            <a:r>
              <a:rPr dirty="0" err="1"/>
              <a:t>campaña</a:t>
            </a:r>
            <a:endParaRPr dirty="0"/>
          </a:p>
        </p:txBody>
      </p:sp>
      <p:pic>
        <p:nvPicPr>
          <p:cNvPr id="1026" name="Picture 2" descr="DeepSeek Descargas gratuitas de SVG,... · LobeHub">
            <a:extLst>
              <a:ext uri="{FF2B5EF4-FFF2-40B4-BE49-F238E27FC236}">
                <a16:creationId xmlns:a16="http://schemas.microsoft.com/office/drawing/2014/main" id="{73304CA2-428B-C4E8-A2F1-C06DD5F6E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1591" y="2118117"/>
            <a:ext cx="353478" cy="35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stral Descargas gratuitas de SVG, ... · LobeHub">
            <a:extLst>
              <a:ext uri="{FF2B5EF4-FFF2-40B4-BE49-F238E27FC236}">
                <a16:creationId xmlns:a16="http://schemas.microsoft.com/office/drawing/2014/main" id="{2FFDF4CD-E2B1-B85D-78E1-AA1B45B5D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685" y="2143511"/>
            <a:ext cx="313259" cy="313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conos Blancos de Gemini ai - Descarga SVG, PNG, GIF Gratis">
            <a:extLst>
              <a:ext uri="{FF2B5EF4-FFF2-40B4-BE49-F238E27FC236}">
                <a16:creationId xmlns:a16="http://schemas.microsoft.com/office/drawing/2014/main" id="{156C2880-EB24-E42C-66F8-002DE8BD6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211" y="2143511"/>
            <a:ext cx="249767" cy="24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101BD494-3EE8-DDB3-7628-0F341F8C5C4D}"/>
              </a:ext>
            </a:extLst>
          </p:cNvPr>
          <p:cNvSpPr txBox="1"/>
          <p:nvPr/>
        </p:nvSpPr>
        <p:spPr>
          <a:xfrm>
            <a:off x="5592880" y="6350000"/>
            <a:ext cx="35123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8B66"/>
                </a:solidFill>
              </a:defRPr>
            </a:pPr>
            <a:r>
              <a:rPr lang="es-EC" sz="1600" b="1" dirty="0">
                <a:solidFill>
                  <a:srgbClr val="F7632F"/>
                </a:solidFill>
              </a:rPr>
              <a:t>Universidad 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37474F"/>
                </a:solidFill>
              </a:defRPr>
            </a:pPr>
            <a:r>
              <a:rPr dirty="0"/>
              <a:t>🌍 </a:t>
            </a:r>
            <a:r>
              <a:rPr dirty="0" err="1"/>
              <a:t>Escalabilidad</a:t>
            </a:r>
            <a:r>
              <a:rPr dirty="0"/>
              <a:t> Sin </a:t>
            </a:r>
            <a:r>
              <a:rPr dirty="0" err="1"/>
              <a:t>Límites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2A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908389"/>
            <a:ext cx="7680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t>📈 Expansión Rápida</a:t>
            </a:r>
          </a:p>
          <a:p>
            <a:pPr>
              <a:defRPr sz="1600">
                <a:solidFill>
                  <a:srgbClr val="607D8B"/>
                </a:solidFill>
              </a:defRPr>
            </a:pPr>
            <a:r>
              <a:t>Nueva arquitectura que permite añadir mercados (China, Italia, Francia) en minutos, no meses.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82907"/>
            <a:ext cx="7680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ctr">
              <a:spcAft>
                <a:spcPts val="1000"/>
              </a:spcAft>
              <a:defRPr sz="2000" b="1">
                <a:solidFill>
                  <a:srgbClr val="2A8B66"/>
                </a:solidFill>
              </a:defRPr>
            </a:pPr>
            <a:r>
              <a:t>💰 Costo Cero en Expansión</a:t>
            </a:r>
          </a:p>
          <a:p>
            <a:pPr>
              <a:defRPr sz="1600">
                <a:solidFill>
                  <a:srgbClr val="607D8B"/>
                </a:solidFill>
              </a:defRPr>
            </a:pPr>
            <a:r>
              <a:t>Costo marginal casi cero por cada nuevo mercado añadido.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2422C12-4656-13F6-DC63-99A630E38DF6}"/>
              </a:ext>
            </a:extLst>
          </p:cNvPr>
          <p:cNvSpPr txBox="1"/>
          <p:nvPr/>
        </p:nvSpPr>
        <p:spPr>
          <a:xfrm>
            <a:off x="5592880" y="6350000"/>
            <a:ext cx="35123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8B66"/>
                </a:solidFill>
              </a:defRPr>
            </a:pPr>
            <a:r>
              <a:rPr lang="es-EC" sz="1600" b="1" dirty="0">
                <a:solidFill>
                  <a:srgbClr val="F7632F"/>
                </a:solidFill>
              </a:rPr>
              <a:t>Universidad 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i="1">
                <a:solidFill>
                  <a:srgbClr val="37474F"/>
                </a:solidFill>
              </a:defRPr>
            </a:pPr>
            <a:r>
              <a:t>"Polyglot no es solo traducción,</a:t>
            </a:r>
          </a:p>
          <a:p>
            <a:pPr algn="ctr">
              <a:defRPr sz="3600" i="1">
                <a:solidFill>
                  <a:srgbClr val="37474F"/>
                </a:solidFill>
              </a:defRPr>
            </a:pPr>
            <a:r>
              <a:t>es el pasaporte de Global-Gadgets</a:t>
            </a:r>
          </a:p>
          <a:p>
            <a:pPr algn="ctr">
              <a:defRPr sz="3600" i="1">
                <a:solidFill>
                  <a:srgbClr val="37474F"/>
                </a:solidFill>
              </a:defRPr>
            </a:pPr>
            <a:r>
              <a:t>hacia el éxito mundial."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3C02F8-B8D1-58D4-9120-B822CA54F80A}"/>
              </a:ext>
            </a:extLst>
          </p:cNvPr>
          <p:cNvSpPr txBox="1"/>
          <p:nvPr/>
        </p:nvSpPr>
        <p:spPr>
          <a:xfrm>
            <a:off x="3516557" y="626535"/>
            <a:ext cx="64058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0000" dirty="0"/>
              <a:t>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C047D-795F-7553-858F-3AC423C45786}"/>
              </a:ext>
            </a:extLst>
          </p:cNvPr>
          <p:cNvSpPr txBox="1"/>
          <p:nvPr/>
        </p:nvSpPr>
        <p:spPr>
          <a:xfrm>
            <a:off x="5592880" y="6350000"/>
            <a:ext cx="35123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8B66"/>
                </a:solidFill>
              </a:defRPr>
            </a:pPr>
            <a:r>
              <a:rPr lang="es-EC" sz="1600" b="1" dirty="0">
                <a:solidFill>
                  <a:srgbClr val="F7632F"/>
                </a:solidFill>
              </a:rPr>
              <a:t>Universidad 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25403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22591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37474F"/>
                </a:solidFill>
              </a:defRPr>
            </a:pPr>
            <a:r>
              <a:rPr lang="es-EC" sz="4400" dirty="0"/>
              <a:t>🌍</a:t>
            </a:r>
            <a:r>
              <a:rPr dirty="0"/>
              <a:t> </a:t>
            </a:r>
            <a:r>
              <a:rPr lang="es-MX" sz="4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Conoce a</a:t>
            </a:r>
            <a:r>
              <a:rPr lang="es-MX" sz="4400" b="1" dirty="0"/>
              <a:t> </a:t>
            </a:r>
            <a:r>
              <a:rPr lang="es-EC" sz="4400" dirty="0" err="1">
                <a:solidFill>
                  <a:srgbClr val="339966"/>
                </a:solidFill>
              </a:rPr>
              <a:t>Polyglot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2A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84866" y="1732634"/>
            <a:ext cx="463620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A8B66"/>
                </a:solidFill>
              </a:defRPr>
            </a:pPr>
            <a:r>
              <a:rPr lang="es-MX" sz="2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Plataforma de Campañas Inteligentes</a:t>
            </a:r>
            <a:r>
              <a:rPr lang="es-MX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 descr="Google Gemini (2024 - 2025) logo in vector formats SVG, EPS">
            <a:extLst>
              <a:ext uri="{FF2B5EF4-FFF2-40B4-BE49-F238E27FC236}">
                <a16:creationId xmlns:a16="http://schemas.microsoft.com/office/drawing/2014/main" id="{A40C8014-21ED-5744-B571-14197F91E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251" y="4956179"/>
            <a:ext cx="1339901" cy="133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stral AI Unveils New Logo and Brand Identity">
            <a:extLst>
              <a:ext uri="{FF2B5EF4-FFF2-40B4-BE49-F238E27FC236}">
                <a16:creationId xmlns:a16="http://schemas.microsoft.com/office/drawing/2014/main" id="{B882338A-6AF6-26AE-A0D4-0969D7989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435" y="5163082"/>
            <a:ext cx="1642534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6FB21CA-D423-E4A4-FFE8-681947303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648" y="5432215"/>
            <a:ext cx="1814862" cy="38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7C0D6D8A-9B9F-A5CA-2ED6-FE5213184CE7}"/>
              </a:ext>
            </a:extLst>
          </p:cNvPr>
          <p:cNvSpPr txBox="1"/>
          <p:nvPr/>
        </p:nvSpPr>
        <p:spPr>
          <a:xfrm>
            <a:off x="2202588" y="4643132"/>
            <a:ext cx="670311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A8B66"/>
                </a:solidFill>
              </a:defRPr>
            </a:pPr>
            <a:r>
              <a:rPr lang="es-EC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Light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Impulsado por los motores más potentes de la industria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Abadi ExtraLight" panose="020F050202020403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F5EFC31-4753-6711-784A-9A74775B3BAB}"/>
              </a:ext>
            </a:extLst>
          </p:cNvPr>
          <p:cNvSpPr txBox="1"/>
          <p:nvPr/>
        </p:nvSpPr>
        <p:spPr>
          <a:xfrm>
            <a:off x="3439304" y="3028437"/>
            <a:ext cx="4229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err="1">
                <a:hlinkClick r:id="rId5"/>
              </a:rPr>
              <a:t>polyglot</a:t>
            </a:r>
            <a:r>
              <a:rPr lang="es-EC" dirty="0">
                <a:hlinkClick r:id="rId5"/>
              </a:rPr>
              <a:t>-app ∙ </a:t>
            </a:r>
            <a:r>
              <a:rPr lang="es-EC" dirty="0" err="1">
                <a:hlinkClick r:id="rId5"/>
              </a:rPr>
              <a:t>main</a:t>
            </a:r>
            <a:r>
              <a:rPr lang="es-EC" dirty="0">
                <a:hlinkClick r:id="rId5"/>
              </a:rPr>
              <a:t> ∙ interfaz_polyglot.py</a:t>
            </a:r>
            <a:endParaRPr lang="es-EC" dirty="0"/>
          </a:p>
        </p:txBody>
      </p:sp>
      <p:pic>
        <p:nvPicPr>
          <p:cNvPr id="7" name="Picture 2" descr="Puntero - Iconos gratis de computadora">
            <a:extLst>
              <a:ext uri="{FF2B5EF4-FFF2-40B4-BE49-F238E27FC236}">
                <a16:creationId xmlns:a16="http://schemas.microsoft.com/office/drawing/2014/main" id="{237B8171-2B59-500D-74C3-D961F8918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5226">
            <a:off x="7812975" y="3312207"/>
            <a:ext cx="549196" cy="54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9F743A2-14C4-D1D0-7A63-DA622BE7EF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972" y="2201138"/>
            <a:ext cx="2208778" cy="2208778"/>
          </a:xfrm>
          <a:prstGeom prst="rect">
            <a:avLst/>
          </a:prstGeom>
          <a:ln>
            <a:noFill/>
          </a:ln>
          <a:effectLst>
            <a:glow rad="127000">
              <a:schemeClr val="bg1">
                <a:lumMod val="95000"/>
                <a:alpha val="95000"/>
              </a:schemeClr>
            </a:glow>
            <a:innerShdw blurRad="114300">
              <a:prstClr val="black"/>
            </a:innerShdw>
            <a:softEdge rad="330200"/>
          </a:effectLst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F0FCE8E6-5CA1-B765-70DF-EAA797BE8442}"/>
              </a:ext>
            </a:extLst>
          </p:cNvPr>
          <p:cNvSpPr txBox="1"/>
          <p:nvPr/>
        </p:nvSpPr>
        <p:spPr>
          <a:xfrm>
            <a:off x="5609814" y="6426203"/>
            <a:ext cx="35123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8B66"/>
                </a:solidFill>
              </a:defRPr>
            </a:pPr>
            <a:r>
              <a:rPr lang="es-EC" sz="1600" b="1" dirty="0">
                <a:solidFill>
                  <a:srgbClr val="F7632F"/>
                </a:solidFill>
              </a:rPr>
              <a:t>Universidad 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2A8B66"/>
                </a:solidFill>
              </a:defRPr>
            </a:pPr>
            <a: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Muchas gracias por su atención e interés en Polyglot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92880" y="6350000"/>
            <a:ext cx="35123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8B66"/>
                </a:solidFill>
              </a:defRPr>
            </a:pPr>
            <a:r>
              <a:rPr lang="es-EC" sz="1600" b="1" dirty="0">
                <a:solidFill>
                  <a:srgbClr val="F7632F"/>
                </a:solidFill>
              </a:rPr>
              <a:t>Universidad Hemisferios</a:t>
            </a:r>
            <a:r>
              <a:rPr lang="es-EC" sz="1600" b="1" dirty="0">
                <a:solidFill>
                  <a:srgbClr val="607D8B"/>
                </a:solidFill>
              </a:rPr>
              <a:t> | </a:t>
            </a:r>
            <a:r>
              <a:rPr lang="es-EC" sz="1600" b="1" dirty="0">
                <a:solidFill>
                  <a:srgbClr val="7030A0"/>
                </a:solidFill>
              </a:rPr>
              <a:t>EELA </a:t>
            </a:r>
            <a:r>
              <a:rPr lang="es-EC" sz="1100" b="1" dirty="0">
                <a:solidFill>
                  <a:srgbClr val="7030A0"/>
                </a:solidFill>
              </a:rPr>
              <a:t>INSTITUTE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460</Words>
  <Application>Microsoft Office PowerPoint</Application>
  <PresentationFormat>Presentación en pantalla (4:3)</PresentationFormat>
  <Paragraphs>88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Abadi ExtraLight</vt:lpstr>
      <vt:lpstr>Aptos ExtraBold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Viviana Elizabeth Navarrete Sangoquiza</cp:lastModifiedBy>
  <cp:revision>13</cp:revision>
  <dcterms:created xsi:type="dcterms:W3CDTF">2013-01-27T09:14:16Z</dcterms:created>
  <dcterms:modified xsi:type="dcterms:W3CDTF">2026-04-24T02:36:21Z</dcterms:modified>
  <cp:category/>
</cp:coreProperties>
</file>